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9144000" cy="5143500"/>
  <p:notesSz cx="6858000" cy="9144000"/>
  <p:embeddedFontLst>
    <p:embeddedFont>
      <p:font typeface="Raleway"/>
      <p:regular r:id="rId16"/>
    </p:embeddedFont>
    <p:embeddedFont>
      <p:font typeface="Lato" panose="020F0502020204030203"/>
      <p:regular r:id="rId17"/>
    </p:embeddedFont>
    <p:embeddedFont>
      <p:font typeface="Raleway SemiBold"/>
      <p:regular r:id="rId18"/>
      <p:bold r:id="rId19"/>
      <p:italic r:id="rId20"/>
      <p:boldItalic r:id="rId21"/>
    </p:embeddedFont>
    <p:embeddedFont>
      <p:font typeface="Lexend Medium"/>
      <p:regular r:id="rId22"/>
    </p:embeddedFont>
    <p:embeddedFont>
      <p:font typeface="Lexend"/>
      <p:regular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font" Target="fonts/font8.fntdata"/><Relationship Id="rId22" Type="http://schemas.openxmlformats.org/officeDocument/2006/relationships/font" Target="fonts/font7.fntdata"/><Relationship Id="rId21" Type="http://schemas.openxmlformats.org/officeDocument/2006/relationships/font" Target="fonts/font6.fntdata"/><Relationship Id="rId20" Type="http://schemas.openxmlformats.org/officeDocument/2006/relationships/font" Target="fonts/font5.fntdata"/><Relationship Id="rId2" Type="http://schemas.openxmlformats.org/officeDocument/2006/relationships/theme" Target="theme/theme1.xml"/><Relationship Id="rId19" Type="http://schemas.openxmlformats.org/officeDocument/2006/relationships/font" Target="fonts/font4.fntdata"/><Relationship Id="rId18" Type="http://schemas.openxmlformats.org/officeDocument/2006/relationships/font" Target="fonts/font3.fntdata"/><Relationship Id="rId17" Type="http://schemas.openxmlformats.org/officeDocument/2006/relationships/font" Target="fonts/font2.fntdata"/><Relationship Id="rId16" Type="http://schemas.openxmlformats.org/officeDocument/2006/relationships/font" Target="fonts/font1.fntdata"/><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 name="Shape 68"/>
        <p:cNvGrpSpPr/>
        <p:nvPr/>
      </p:nvGrpSpPr>
      <p:grpSpPr>
        <a:xfrm>
          <a:off x="0" y="0"/>
          <a:ext cx="0" cy="0"/>
          <a:chOff x="0" y="0"/>
          <a:chExt cx="0" cy="0"/>
        </a:xfrm>
      </p:grpSpPr>
      <p:sp>
        <p:nvSpPr>
          <p:cNvPr id="69" name="Google Shape;69;gcb9a0b074_1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cb9a0b074_1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5" name="Shape 75"/>
        <p:cNvGrpSpPr/>
        <p:nvPr/>
      </p:nvGrpSpPr>
      <p:grpSpPr>
        <a:xfrm>
          <a:off x="0" y="0"/>
          <a:ext cx="0" cy="0"/>
          <a:chOff x="0" y="0"/>
          <a:chExt cx="0" cy="0"/>
        </a:xfrm>
      </p:grpSpPr>
      <p:sp>
        <p:nvSpPr>
          <p:cNvPr id="76" name="Google Shape;76;gd5b15f0a3_5_2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d5b15f0a3_5_2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81" name="Shape 81"/>
        <p:cNvGrpSpPr/>
        <p:nvPr/>
      </p:nvGrpSpPr>
      <p:grpSpPr>
        <a:xfrm>
          <a:off x="0" y="0"/>
          <a:ext cx="0" cy="0"/>
          <a:chOff x="0" y="0"/>
          <a:chExt cx="0" cy="0"/>
        </a:xfrm>
      </p:grpSpPr>
      <p:sp>
        <p:nvSpPr>
          <p:cNvPr id="82" name="Google Shape;82;g723630543_3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723630543_3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7" name="Shape 87"/>
        <p:cNvGrpSpPr/>
        <p:nvPr/>
      </p:nvGrpSpPr>
      <p:grpSpPr>
        <a:xfrm>
          <a:off x="0" y="0"/>
          <a:ext cx="0" cy="0"/>
          <a:chOff x="0" y="0"/>
          <a:chExt cx="0" cy="0"/>
        </a:xfrm>
      </p:grpSpPr>
      <p:sp>
        <p:nvSpPr>
          <p:cNvPr id="88" name="Google Shape;88;gd251bb473_0_60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d251bb473_0_60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3" name="Shape 93"/>
        <p:cNvGrpSpPr/>
        <p:nvPr/>
      </p:nvGrpSpPr>
      <p:grpSpPr>
        <a:xfrm>
          <a:off x="0" y="0"/>
          <a:ext cx="0" cy="0"/>
          <a:chOff x="0" y="0"/>
          <a:chExt cx="0" cy="0"/>
        </a:xfrm>
      </p:grpSpPr>
      <p:sp>
        <p:nvSpPr>
          <p:cNvPr id="94" name="Google Shape;94;gcb9a0b074_1_10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cb9a0b074_1_10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 name="Shape 99"/>
        <p:cNvGrpSpPr/>
        <p:nvPr/>
      </p:nvGrpSpPr>
      <p:grpSpPr>
        <a:xfrm>
          <a:off x="0" y="0"/>
          <a:ext cx="0" cy="0"/>
          <a:chOff x="0" y="0"/>
          <a:chExt cx="0" cy="0"/>
        </a:xfrm>
      </p:grpSpPr>
      <p:sp>
        <p:nvSpPr>
          <p:cNvPr id="100" name="Google Shape;100;gd251bb473_0_68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d251bb473_0_68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6" name="Shape 106"/>
        <p:cNvGrpSpPr/>
        <p:nvPr/>
      </p:nvGrpSpPr>
      <p:grpSpPr>
        <a:xfrm>
          <a:off x="0" y="0"/>
          <a:ext cx="0" cy="0"/>
          <a:chOff x="0" y="0"/>
          <a:chExt cx="0" cy="0"/>
        </a:xfrm>
      </p:grpSpPr>
      <p:sp>
        <p:nvSpPr>
          <p:cNvPr id="107" name="Google Shape;107;gd814cf7d3_0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d814cf7d3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g723630543_5_23:notes"/>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723630543_5_2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 name="Shape 118"/>
        <p:cNvGrpSpPr/>
        <p:nvPr/>
      </p:nvGrpSpPr>
      <p:grpSpPr>
        <a:xfrm>
          <a:off x="0" y="0"/>
          <a:ext cx="0" cy="0"/>
          <a:chOff x="0" y="0"/>
          <a:chExt cx="0" cy="0"/>
        </a:xfrm>
      </p:grpSpPr>
      <p:sp>
        <p:nvSpPr>
          <p:cNvPr id="119" name="Google Shape;119;gcb9a0b074_1_122:notes"/>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cb9a0b074_1_12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solidFill>
          <a:schemeClr val="dk1"/>
        </a:solidFill>
        <a:effectLst/>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w="38100" cap="flat" cmpd="sng">
            <a:solidFill>
              <a:schemeClr val="lt1"/>
            </a:solidFill>
            <a:prstDash val="solid"/>
            <a:round/>
            <a:headEnd type="none" w="sm" len="sm"/>
            <a:tailEnd type="none" w="sm" len="sm"/>
          </a:ln>
        </p:spPr>
      </p:cxnSp>
      <p:cxnSp>
        <p:nvCxnSpPr>
          <p:cNvPr id="11" name="Google Shape;11;p2"/>
          <p:cNvCxnSpPr/>
          <p:nvPr/>
        </p:nvCxnSpPr>
        <p:spPr>
          <a:xfrm>
            <a:off x="2477724" y="4740000"/>
            <a:ext cx="6244200" cy="0"/>
          </a:xfrm>
          <a:prstGeom prst="straightConnector1">
            <a:avLst/>
          </a:prstGeom>
          <a:noFill/>
          <a:ln w="19050" cap="flat" cmpd="sng">
            <a:solidFill>
              <a:schemeClr val="lt1"/>
            </a:solidFill>
            <a:prstDash val="solid"/>
            <a:round/>
            <a:headEnd type="none" w="sm" len="sm"/>
            <a:tailEnd type="none" w="sm" len="sm"/>
          </a:ln>
        </p:spPr>
      </p:cxnSp>
      <p:cxnSp>
        <p:nvCxnSpPr>
          <p:cNvPr id="12" name="Google Shape;12;p2"/>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13" name="Google Shape;13;p2"/>
          <p:cNvSpPr txBox="1"/>
          <p:nvPr>
            <p:ph type="ctrTitle"/>
          </p:nvPr>
        </p:nvSpPr>
        <p:spPr>
          <a:xfrm>
            <a:off x="2371725" y="630225"/>
            <a:ext cx="6331500" cy="15420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type="subTitle" idx="1"/>
          </p:nvPr>
        </p:nvSpPr>
        <p:spPr>
          <a:xfrm>
            <a:off x="2390267" y="3238450"/>
            <a:ext cx="6331500" cy="1241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bg>
      <p:bgPr>
        <a:solidFill>
          <a:schemeClr val="dk1"/>
        </a:solidFill>
        <a:effectLst/>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w="38100" cap="flat" cmpd="sng">
            <a:solidFill>
              <a:schemeClr val="lt1"/>
            </a:solidFill>
            <a:prstDash val="solid"/>
            <a:round/>
            <a:headEnd type="none" w="sm" len="sm"/>
            <a:tailEnd type="none" w="sm" len="sm"/>
          </a:ln>
        </p:spPr>
      </p:cxnSp>
      <p:cxnSp>
        <p:nvCxnSpPr>
          <p:cNvPr id="18" name="Google Shape;18;p3"/>
          <p:cNvCxnSpPr/>
          <p:nvPr/>
        </p:nvCxnSpPr>
        <p:spPr>
          <a:xfrm>
            <a:off x="425200" y="4740000"/>
            <a:ext cx="8296800" cy="0"/>
          </a:xfrm>
          <a:prstGeom prst="straightConnector1">
            <a:avLst/>
          </a:prstGeom>
          <a:noFill/>
          <a:ln w="19050" cap="flat" cmpd="sng">
            <a:solidFill>
              <a:schemeClr val="lt1"/>
            </a:solidFill>
            <a:prstDash val="solid"/>
            <a:round/>
            <a:headEnd type="none" w="sm" len="sm"/>
            <a:tailEnd type="none" w="sm" len="sm"/>
          </a:ln>
        </p:spPr>
      </p:cxnSp>
      <p:sp>
        <p:nvSpPr>
          <p:cNvPr id="19" name="Google Shape;19;p3"/>
          <p:cNvSpPr txBox="1"/>
          <p:nvPr>
            <p:ph type="title"/>
          </p:nvPr>
        </p:nvSpPr>
        <p:spPr>
          <a:xfrm>
            <a:off x="406425" y="1806825"/>
            <a:ext cx="8296800" cy="1542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23" name="Google Shape;23;p4"/>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24" name="Google Shape;24;p4"/>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25" name="Google Shape;25;p4"/>
          <p:cNvSpPr txBox="1"/>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type="body" idx="1"/>
          </p:nvPr>
        </p:nvSpPr>
        <p:spPr>
          <a:xfrm>
            <a:off x="2410112" y="1595776"/>
            <a:ext cx="6321600" cy="3002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p:txBody>
      </p:sp>
      <p:sp>
        <p:nvSpPr>
          <p:cNvPr id="27" name="Google Shape;27;p4"/>
          <p:cNvSpPr txBox="1"/>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30" name="Google Shape;30;p5"/>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31" name="Google Shape;31;p5"/>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32" name="Google Shape;32;p5"/>
          <p:cNvSpPr txBox="1"/>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 name="Google Shape;33;p5"/>
          <p:cNvSpPr txBox="1"/>
          <p:nvPr>
            <p:ph type="body" idx="1"/>
          </p:nvPr>
        </p:nvSpPr>
        <p:spPr>
          <a:xfrm>
            <a:off x="2400303" y="1602675"/>
            <a:ext cx="3071400" cy="3002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p:txBody>
      </p:sp>
      <p:sp>
        <p:nvSpPr>
          <p:cNvPr id="34" name="Google Shape;34;p5"/>
          <p:cNvSpPr txBox="1"/>
          <p:nvPr>
            <p:ph type="body" idx="2"/>
          </p:nvPr>
        </p:nvSpPr>
        <p:spPr>
          <a:xfrm>
            <a:off x="5650572" y="1602675"/>
            <a:ext cx="3071400" cy="3002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p:txBody>
      </p:sp>
      <p:sp>
        <p:nvSpPr>
          <p:cNvPr id="35" name="Google Shape;35;p5"/>
          <p:cNvSpPr txBox="1"/>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txBox="1"/>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41" name="Google Shape;41;p7"/>
          <p:cNvSpPr txBox="1"/>
          <p:nvPr>
            <p:ph type="title"/>
          </p:nvPr>
        </p:nvSpPr>
        <p:spPr>
          <a:xfrm>
            <a:off x="319500" y="936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2" name="Google Shape;42;p7"/>
          <p:cNvSpPr txBox="1"/>
          <p:nvPr>
            <p:ph type="body" idx="1"/>
          </p:nvPr>
        </p:nvSpPr>
        <p:spPr>
          <a:xfrm>
            <a:off x="319500" y="1846804"/>
            <a:ext cx="2808000" cy="28062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p:txBody>
      </p:sp>
      <p:sp>
        <p:nvSpPr>
          <p:cNvPr id="43" name="Google Shape;43;p7"/>
          <p:cNvSpPr txBox="1"/>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rgbClr val="353535"/>
        </a:solidFill>
        <a:effectLst/>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46" name="Google Shape;46;p8"/>
          <p:cNvSpPr txBox="1"/>
          <p:nvPr>
            <p:ph type="title"/>
          </p:nvPr>
        </p:nvSpPr>
        <p:spPr>
          <a:xfrm>
            <a:off x="283103" y="712141"/>
            <a:ext cx="6244200" cy="38355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50" name="Google Shape;50;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51" name="Google Shape;51;p9"/>
          <p:cNvSpPr txBox="1"/>
          <p:nvPr>
            <p:ph type="title"/>
          </p:nvPr>
        </p:nvSpPr>
        <p:spPr>
          <a:xfrm>
            <a:off x="265500" y="1397350"/>
            <a:ext cx="4045200" cy="1318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3600"/>
              <a:buNone/>
              <a:defRPr sz="3600">
                <a:solidFill>
                  <a:schemeClr val="dk1"/>
                </a:solidFill>
              </a:defRPr>
            </a:lvl1pPr>
            <a:lvl2pPr lvl="1" algn="ctr" rtl="0">
              <a:spcBef>
                <a:spcPts val="0"/>
              </a:spcBef>
              <a:spcAft>
                <a:spcPts val="0"/>
              </a:spcAft>
              <a:buClr>
                <a:schemeClr val="dk1"/>
              </a:buClr>
              <a:buSzPts val="3600"/>
              <a:buNone/>
              <a:defRPr sz="3600">
                <a:solidFill>
                  <a:schemeClr val="dk1"/>
                </a:solidFill>
              </a:defRPr>
            </a:lvl2pPr>
            <a:lvl3pPr lvl="2" algn="ctr" rtl="0">
              <a:spcBef>
                <a:spcPts val="0"/>
              </a:spcBef>
              <a:spcAft>
                <a:spcPts val="0"/>
              </a:spcAft>
              <a:buClr>
                <a:schemeClr val="dk1"/>
              </a:buClr>
              <a:buSzPts val="3600"/>
              <a:buNone/>
              <a:defRPr sz="3600">
                <a:solidFill>
                  <a:schemeClr val="dk1"/>
                </a:solidFill>
              </a:defRPr>
            </a:lvl3pPr>
            <a:lvl4pPr lvl="3" algn="ctr" rtl="0">
              <a:spcBef>
                <a:spcPts val="0"/>
              </a:spcBef>
              <a:spcAft>
                <a:spcPts val="0"/>
              </a:spcAft>
              <a:buClr>
                <a:schemeClr val="dk1"/>
              </a:buClr>
              <a:buSzPts val="3600"/>
              <a:buNone/>
              <a:defRPr sz="3600">
                <a:solidFill>
                  <a:schemeClr val="dk1"/>
                </a:solidFill>
              </a:defRPr>
            </a:lvl4pPr>
            <a:lvl5pPr lvl="4" algn="ctr" rtl="0">
              <a:spcBef>
                <a:spcPts val="0"/>
              </a:spcBef>
              <a:spcAft>
                <a:spcPts val="0"/>
              </a:spcAft>
              <a:buClr>
                <a:schemeClr val="dk1"/>
              </a:buClr>
              <a:buSzPts val="3600"/>
              <a:buNone/>
              <a:defRPr sz="3600">
                <a:solidFill>
                  <a:schemeClr val="dk1"/>
                </a:solidFill>
              </a:defRPr>
            </a:lvl5pPr>
            <a:lvl6pPr lvl="5" algn="ctr" rtl="0">
              <a:spcBef>
                <a:spcPts val="0"/>
              </a:spcBef>
              <a:spcAft>
                <a:spcPts val="0"/>
              </a:spcAft>
              <a:buClr>
                <a:schemeClr val="dk1"/>
              </a:buClr>
              <a:buSzPts val="3600"/>
              <a:buNone/>
              <a:defRPr sz="3600">
                <a:solidFill>
                  <a:schemeClr val="dk1"/>
                </a:solidFill>
              </a:defRPr>
            </a:lvl6pPr>
            <a:lvl7pPr lvl="6" algn="ctr" rtl="0">
              <a:spcBef>
                <a:spcPts val="0"/>
              </a:spcBef>
              <a:spcAft>
                <a:spcPts val="0"/>
              </a:spcAft>
              <a:buClr>
                <a:schemeClr val="dk1"/>
              </a:buClr>
              <a:buSzPts val="3600"/>
              <a:buNone/>
              <a:defRPr sz="3600">
                <a:solidFill>
                  <a:schemeClr val="dk1"/>
                </a:solidFill>
              </a:defRPr>
            </a:lvl7pPr>
            <a:lvl8pPr lvl="7" algn="ctr" rtl="0">
              <a:spcBef>
                <a:spcPts val="0"/>
              </a:spcBef>
              <a:spcAft>
                <a:spcPts val="0"/>
              </a:spcAft>
              <a:buClr>
                <a:schemeClr val="dk1"/>
              </a:buClr>
              <a:buSzPts val="3600"/>
              <a:buNone/>
              <a:defRPr sz="3600">
                <a:solidFill>
                  <a:schemeClr val="dk1"/>
                </a:solidFill>
              </a:defRPr>
            </a:lvl8pPr>
            <a:lvl9pPr lvl="8" algn="ctr" rtl="0">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type="subTitle" idx="1"/>
          </p:nvPr>
        </p:nvSpPr>
        <p:spPr>
          <a:xfrm>
            <a:off x="265500" y="2735371"/>
            <a:ext cx="4045200" cy="1345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p:txBody>
      </p:sp>
      <p:sp>
        <p:nvSpPr>
          <p:cNvPr id="53" name="Google Shape;53;p9"/>
          <p:cNvSpPr txBox="1"/>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57" name="Google Shape;57;p10"/>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58" name="Google Shape;58;p10"/>
          <p:cNvSpPr txBox="1"/>
          <p:nvPr>
            <p:ph type="body" idx="1"/>
          </p:nvPr>
        </p:nvSpPr>
        <p:spPr>
          <a:xfrm>
            <a:off x="328017" y="4226025"/>
            <a:ext cx="8388600" cy="3936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p:txBody>
      </p:sp>
      <p:sp>
        <p:nvSpPr>
          <p:cNvPr id="59" name="Google Shape;59;p10"/>
          <p:cNvSpPr txBox="1"/>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62" name="Google Shape;62;p11"/>
          <p:cNvCxnSpPr/>
          <p:nvPr/>
        </p:nvCxnSpPr>
        <p:spPr>
          <a:xfrm>
            <a:off x="425200" y="415650"/>
            <a:ext cx="8296800" cy="0"/>
          </a:xfrm>
          <a:prstGeom prst="straightConnector1">
            <a:avLst/>
          </a:prstGeom>
          <a:noFill/>
          <a:ln w="38100" cap="flat" cmpd="sng">
            <a:solidFill>
              <a:schemeClr val="dk2"/>
            </a:solidFill>
            <a:prstDash val="solid"/>
            <a:round/>
            <a:headEnd type="none" w="sm" len="sm"/>
            <a:tailEnd type="none" w="sm" len="sm"/>
          </a:ln>
        </p:spPr>
      </p:cxnSp>
      <p:sp>
        <p:nvSpPr>
          <p:cNvPr id="63" name="Google Shape;63;p11"/>
          <p:cNvSpPr txBox="1"/>
          <p:nvPr>
            <p:ph type="title" hasCustomPrompt="1"/>
          </p:nvPr>
        </p:nvSpPr>
        <p:spPr>
          <a:xfrm>
            <a:off x="853950" y="1304850"/>
            <a:ext cx="7436100" cy="1538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1pPr>
            <a:lvl2pPr lvl="1"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2pPr>
            <a:lvl3pPr lvl="2"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3pPr>
            <a:lvl4pPr lvl="3"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4pPr>
            <a:lvl5pPr lvl="4"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5pPr>
            <a:lvl6pPr lvl="5"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6pPr>
            <a:lvl7pPr lvl="6"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7pPr>
            <a:lvl8pPr lvl="7"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8pPr>
            <a:lvl9pPr lvl="8" algn="ctr" rtl="0">
              <a:spcBef>
                <a:spcPts val="0"/>
              </a:spcBef>
              <a:spcAft>
                <a:spcPts val="0"/>
              </a:spcAft>
              <a:buClr>
                <a:schemeClr val="dk1"/>
              </a:buClr>
              <a:buSzPts val="9600"/>
              <a:buFont typeface="Lato" panose="020F0502020204030203"/>
              <a:buNone/>
              <a:defRPr sz="9600">
                <a:solidFill>
                  <a:schemeClr val="dk1"/>
                </a:solidFill>
                <a:latin typeface="Lato" panose="020F0502020204030203"/>
                <a:ea typeface="Lato" panose="020F0502020204030203"/>
                <a:cs typeface="Lato" panose="020F0502020204030203"/>
                <a:sym typeface="Lato" panose="020F0502020204030203"/>
              </a:defRPr>
            </a:lvl9pPr>
          </a:lstStyle>
          <a:p>
            <a:r>
              <a:t>xx%</a:t>
            </a:r>
          </a:p>
        </p:txBody>
      </p:sp>
      <p:sp>
        <p:nvSpPr>
          <p:cNvPr id="64" name="Google Shape;64;p11"/>
          <p:cNvSpPr txBox="1"/>
          <p:nvPr>
            <p:ph type="body" idx="1"/>
          </p:nvPr>
        </p:nvSpPr>
        <p:spPr>
          <a:xfrm>
            <a:off x="853950" y="2919450"/>
            <a:ext cx="7436100" cy="10716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p:txBody>
      </p:sp>
      <p:sp>
        <p:nvSpPr>
          <p:cNvPr id="65" name="Google Shape;65;p11"/>
          <p:cNvSpPr txBox="1"/>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66" name="Shape 66"/>
        <p:cNvGrpSpPr/>
        <p:nvPr/>
      </p:nvGrpSpPr>
      <p:grpSpPr>
        <a:xfrm>
          <a:off x="0" y="0"/>
          <a:ext cx="0" cy="0"/>
          <a:chOff x="0" y="0"/>
          <a:chExt cx="0" cy="0"/>
        </a:xfrm>
      </p:grpSpPr>
      <p:sp>
        <p:nvSpPr>
          <p:cNvPr id="67" name="Google Shape;67;p12"/>
          <p:cNvSpPr txBox="1"/>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p:txBody>
      </p:sp>
      <p:sp>
        <p:nvSpPr>
          <p:cNvPr id="7" name="Google Shape;7;p1"/>
          <p:cNvSpPr txBox="1"/>
          <p:nvPr>
            <p:ph type="body" idx="1"/>
          </p:nvPr>
        </p:nvSpPr>
        <p:spPr>
          <a:xfrm>
            <a:off x="2410112" y="1595776"/>
            <a:ext cx="6321600" cy="3002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Lato" panose="020F0502020204030203"/>
              <a:buChar char="●"/>
              <a:defRPr sz="1800">
                <a:solidFill>
                  <a:schemeClr val="dk2"/>
                </a:solidFill>
                <a:latin typeface="Lato" panose="020F0502020204030203"/>
                <a:ea typeface="Lato" panose="020F0502020204030203"/>
                <a:cs typeface="Lato" panose="020F0502020204030203"/>
                <a:sym typeface="Lato" panose="020F0502020204030203"/>
              </a:defRPr>
            </a:lvl1pPr>
            <a:lvl2pPr marL="914400" lvl="1" indent="-317500" rtl="0">
              <a:lnSpc>
                <a:spcPct val="115000"/>
              </a:lnSpc>
              <a:spcBef>
                <a:spcPts val="160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2pPr>
            <a:lvl3pPr marL="1371600" lvl="2" indent="-317500" rtl="0">
              <a:lnSpc>
                <a:spcPct val="115000"/>
              </a:lnSpc>
              <a:spcBef>
                <a:spcPts val="160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3pPr>
            <a:lvl4pPr marL="1828800" lvl="3" indent="-317500" rtl="0">
              <a:lnSpc>
                <a:spcPct val="115000"/>
              </a:lnSpc>
              <a:spcBef>
                <a:spcPts val="160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4pPr>
            <a:lvl5pPr marL="2286000" lvl="4" indent="-317500" rtl="0">
              <a:lnSpc>
                <a:spcPct val="115000"/>
              </a:lnSpc>
              <a:spcBef>
                <a:spcPts val="160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5pPr>
            <a:lvl6pPr marL="2743200" lvl="5" indent="-317500" rtl="0">
              <a:lnSpc>
                <a:spcPct val="115000"/>
              </a:lnSpc>
              <a:spcBef>
                <a:spcPts val="160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6pPr>
            <a:lvl7pPr marL="3200400" lvl="6" indent="-317500" rtl="0">
              <a:lnSpc>
                <a:spcPct val="115000"/>
              </a:lnSpc>
              <a:spcBef>
                <a:spcPts val="160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7pPr>
            <a:lvl8pPr marL="3657600" lvl="7" indent="-317500" rtl="0">
              <a:lnSpc>
                <a:spcPct val="115000"/>
              </a:lnSpc>
              <a:spcBef>
                <a:spcPts val="1600"/>
              </a:spcBef>
              <a:spcAft>
                <a:spcPts val="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8pPr>
            <a:lvl9pPr marL="4114800" lvl="8" indent="-317500" rtl="0">
              <a:lnSpc>
                <a:spcPct val="115000"/>
              </a:lnSpc>
              <a:spcBef>
                <a:spcPts val="1600"/>
              </a:spcBef>
              <a:spcAft>
                <a:spcPts val="1600"/>
              </a:spcAft>
              <a:buClr>
                <a:schemeClr val="dk2"/>
              </a:buClr>
              <a:buSzPts val="1400"/>
              <a:buFont typeface="Lato" panose="020F0502020204030203"/>
              <a:buChar char="■"/>
              <a:defRPr>
                <a:solidFill>
                  <a:schemeClr val="dk2"/>
                </a:solidFill>
                <a:latin typeface="Lato" panose="020F0502020204030203"/>
                <a:ea typeface="Lato" panose="020F0502020204030203"/>
                <a:cs typeface="Lato" panose="020F0502020204030203"/>
                <a:sym typeface="Lato" panose="020F0502020204030203"/>
              </a:defRPr>
            </a:lvl9pPr>
          </a:lstStyle>
          <a:p/>
        </p:txBody>
      </p:sp>
      <p:sp>
        <p:nvSpPr>
          <p:cNvPr id="8" name="Google Shape;8;p1"/>
          <p:cNvSpPr txBox="1"/>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Lato" panose="020F0502020204030203"/>
                <a:ea typeface="Lato" panose="020F0502020204030203"/>
                <a:cs typeface="Lato" panose="020F0502020204030203"/>
                <a:sym typeface="Lato" panose="020F0502020204030203"/>
              </a:defRPr>
            </a:lvl1pPr>
            <a:lvl2pPr lvl="1" algn="r" rtl="0">
              <a:buNone/>
              <a:defRPr sz="1000">
                <a:solidFill>
                  <a:schemeClr val="dk2"/>
                </a:solidFill>
                <a:latin typeface="Lato" panose="020F0502020204030203"/>
                <a:ea typeface="Lato" panose="020F0502020204030203"/>
                <a:cs typeface="Lato" panose="020F0502020204030203"/>
                <a:sym typeface="Lato" panose="020F0502020204030203"/>
              </a:defRPr>
            </a:lvl2pPr>
            <a:lvl3pPr lvl="2" algn="r" rtl="0">
              <a:buNone/>
              <a:defRPr sz="1000">
                <a:solidFill>
                  <a:schemeClr val="dk2"/>
                </a:solidFill>
                <a:latin typeface="Lato" panose="020F0502020204030203"/>
                <a:ea typeface="Lato" panose="020F0502020204030203"/>
                <a:cs typeface="Lato" panose="020F0502020204030203"/>
                <a:sym typeface="Lato" panose="020F0502020204030203"/>
              </a:defRPr>
            </a:lvl3pPr>
            <a:lvl4pPr lvl="3" algn="r" rtl="0">
              <a:buNone/>
              <a:defRPr sz="1000">
                <a:solidFill>
                  <a:schemeClr val="dk2"/>
                </a:solidFill>
                <a:latin typeface="Lato" panose="020F0502020204030203"/>
                <a:ea typeface="Lato" panose="020F0502020204030203"/>
                <a:cs typeface="Lato" panose="020F0502020204030203"/>
                <a:sym typeface="Lato" panose="020F0502020204030203"/>
              </a:defRPr>
            </a:lvl4pPr>
            <a:lvl5pPr lvl="4" algn="r" rtl="0">
              <a:buNone/>
              <a:defRPr sz="1000">
                <a:solidFill>
                  <a:schemeClr val="dk2"/>
                </a:solidFill>
                <a:latin typeface="Lato" panose="020F0502020204030203"/>
                <a:ea typeface="Lato" panose="020F0502020204030203"/>
                <a:cs typeface="Lato" panose="020F0502020204030203"/>
                <a:sym typeface="Lato" panose="020F0502020204030203"/>
              </a:defRPr>
            </a:lvl5pPr>
            <a:lvl6pPr lvl="5" algn="r" rtl="0">
              <a:buNone/>
              <a:defRPr sz="1000">
                <a:solidFill>
                  <a:schemeClr val="dk2"/>
                </a:solidFill>
                <a:latin typeface="Lato" panose="020F0502020204030203"/>
                <a:ea typeface="Lato" panose="020F0502020204030203"/>
                <a:cs typeface="Lato" panose="020F0502020204030203"/>
                <a:sym typeface="Lato" panose="020F0502020204030203"/>
              </a:defRPr>
            </a:lvl6pPr>
            <a:lvl7pPr lvl="6" algn="r" rtl="0">
              <a:buNone/>
              <a:defRPr sz="1000">
                <a:solidFill>
                  <a:schemeClr val="dk2"/>
                </a:solidFill>
                <a:latin typeface="Lato" panose="020F0502020204030203"/>
                <a:ea typeface="Lato" panose="020F0502020204030203"/>
                <a:cs typeface="Lato" panose="020F0502020204030203"/>
                <a:sym typeface="Lato" panose="020F0502020204030203"/>
              </a:defRPr>
            </a:lvl7pPr>
            <a:lvl8pPr lvl="7" algn="r" rtl="0">
              <a:buNone/>
              <a:defRPr sz="1000">
                <a:solidFill>
                  <a:schemeClr val="dk2"/>
                </a:solidFill>
                <a:latin typeface="Lato" panose="020F0502020204030203"/>
                <a:ea typeface="Lato" panose="020F0502020204030203"/>
                <a:cs typeface="Lato" panose="020F0502020204030203"/>
                <a:sym typeface="Lato" panose="020F0502020204030203"/>
              </a:defRPr>
            </a:lvl8pPr>
            <a:lvl9pPr lvl="8" algn="r" rtl="0">
              <a:buNone/>
              <a:defRPr sz="1000">
                <a:solidFill>
                  <a:schemeClr val="dk2"/>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4D40"/>
        </a:solidFill>
        <a:effectLst/>
      </p:bgPr>
    </p:bg>
    <p:spTree>
      <p:nvGrpSpPr>
        <p:cNvPr id="71" name="Shape 71"/>
        <p:cNvGrpSpPr/>
        <p:nvPr/>
      </p:nvGrpSpPr>
      <p:grpSpPr>
        <a:xfrm>
          <a:off x="0" y="0"/>
          <a:ext cx="0" cy="0"/>
          <a:chOff x="0" y="0"/>
          <a:chExt cx="0" cy="0"/>
        </a:xfrm>
      </p:grpSpPr>
      <p:sp>
        <p:nvSpPr>
          <p:cNvPr id="72" name="Google Shape;72;p13"/>
          <p:cNvSpPr txBox="1"/>
          <p:nvPr>
            <p:ph type="ctrTitle"/>
          </p:nvPr>
        </p:nvSpPr>
        <p:spPr>
          <a:xfrm>
            <a:off x="1375750" y="630225"/>
            <a:ext cx="7327500" cy="154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4500"/>
              <a:t>CAPSTONE PROJECT-0</a:t>
            </a:r>
            <a:r>
              <a:rPr lang="en-US" altLang="en-GB" sz="4500"/>
              <a:t>2</a:t>
            </a:r>
            <a:endParaRPr sz="4500"/>
          </a:p>
          <a:p>
            <a:pPr marL="0" lvl="0" indent="0" algn="l" rtl="0">
              <a:spcBef>
                <a:spcPts val="0"/>
              </a:spcBef>
              <a:spcAft>
                <a:spcPts val="0"/>
              </a:spcAft>
              <a:buNone/>
            </a:pPr>
            <a:r>
              <a:rPr lang="en-IN" altLang="en-GB" sz="4000"/>
              <a:t>J</a:t>
            </a:r>
            <a:r>
              <a:rPr lang="en-US" altLang="en-GB" sz="4000"/>
              <a:t>OB MARKET</a:t>
            </a:r>
            <a:r>
              <a:rPr lang="en-GB" sz="4000"/>
              <a:t> ANALYSIS</a:t>
            </a:r>
            <a:endParaRPr sz="4000"/>
          </a:p>
        </p:txBody>
      </p:sp>
      <p:sp>
        <p:nvSpPr>
          <p:cNvPr id="73" name="Google Shape;73;p13"/>
          <p:cNvSpPr txBox="1"/>
          <p:nvPr/>
        </p:nvSpPr>
        <p:spPr>
          <a:xfrm>
            <a:off x="1485475" y="2148250"/>
            <a:ext cx="6775800" cy="75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lt1"/>
                </a:solidFill>
                <a:latin typeface="Raleway SemiBold"/>
                <a:ea typeface="Raleway SemiBold"/>
                <a:cs typeface="Raleway SemiBold"/>
                <a:sym typeface="Raleway SemiBold"/>
              </a:rPr>
              <a:t>TEAM ID: PTID-CDA-OCT-25-803</a:t>
            </a:r>
            <a:endParaRPr sz="1800">
              <a:solidFill>
                <a:schemeClr val="lt1"/>
              </a:solidFill>
              <a:latin typeface="Raleway SemiBold"/>
              <a:ea typeface="Raleway SemiBold"/>
              <a:cs typeface="Raleway SemiBold"/>
              <a:sym typeface="Raleway SemiBold"/>
            </a:endParaRPr>
          </a:p>
          <a:p>
            <a:pPr marL="0" lvl="0" indent="0" algn="l" rtl="0">
              <a:spcBef>
                <a:spcPts val="0"/>
              </a:spcBef>
              <a:spcAft>
                <a:spcPts val="0"/>
              </a:spcAft>
              <a:buNone/>
            </a:pPr>
            <a:r>
              <a:rPr lang="en-GB" sz="1800">
                <a:solidFill>
                  <a:schemeClr val="lt1"/>
                </a:solidFill>
                <a:latin typeface="Raleway SemiBold"/>
                <a:ea typeface="Raleway SemiBold"/>
                <a:cs typeface="Raleway SemiBold"/>
                <a:sym typeface="Raleway SemiBold"/>
              </a:rPr>
              <a:t>PROJECT ID: PRDA-04 JOB MARKET ANALYSIS</a:t>
            </a:r>
            <a:endParaRPr sz="1800">
              <a:solidFill>
                <a:schemeClr val="lt1"/>
              </a:solidFill>
              <a:latin typeface="Raleway SemiBold"/>
              <a:ea typeface="Raleway SemiBold"/>
              <a:cs typeface="Raleway SemiBold"/>
              <a:sym typeface="Raleway SemiBold"/>
            </a:endParaRPr>
          </a:p>
        </p:txBody>
      </p:sp>
      <p:sp>
        <p:nvSpPr>
          <p:cNvPr id="74" name="Google Shape;74;p13"/>
          <p:cNvSpPr txBox="1"/>
          <p:nvPr/>
        </p:nvSpPr>
        <p:spPr>
          <a:xfrm>
            <a:off x="1485475" y="2902750"/>
            <a:ext cx="2798400" cy="130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lt1"/>
                </a:solidFill>
                <a:latin typeface="Raleway SemiBold"/>
                <a:ea typeface="Raleway SemiBold"/>
                <a:cs typeface="Raleway SemiBold"/>
                <a:sym typeface="Raleway SemiBold"/>
              </a:rPr>
              <a:t>ADITYA HINGRAJIYA</a:t>
            </a:r>
            <a:endParaRPr sz="1800">
              <a:solidFill>
                <a:schemeClr val="lt1"/>
              </a:solidFill>
              <a:latin typeface="Raleway SemiBold"/>
              <a:ea typeface="Raleway SemiBold"/>
              <a:cs typeface="Raleway SemiBold"/>
              <a:sym typeface="Raleway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78" name="Shape 78"/>
        <p:cNvGrpSpPr/>
        <p:nvPr/>
      </p:nvGrpSpPr>
      <p:grpSpPr>
        <a:xfrm>
          <a:off x="0" y="0"/>
          <a:ext cx="0" cy="0"/>
          <a:chOff x="0" y="0"/>
          <a:chExt cx="0" cy="0"/>
        </a:xfrm>
      </p:grpSpPr>
      <p:sp>
        <p:nvSpPr>
          <p:cNvPr id="79" name="Google Shape;79;p14"/>
          <p:cNvSpPr txBox="1"/>
          <p:nvPr>
            <p:ph type="title" idx="4294967295"/>
          </p:nvPr>
        </p:nvSpPr>
        <p:spPr>
          <a:xfrm>
            <a:off x="535775" y="712150"/>
            <a:ext cx="5197200" cy="768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GB" sz="3600">
                <a:solidFill>
                  <a:srgbClr val="004D40"/>
                </a:solidFill>
              </a:rPr>
              <a:t>INTRODUCTION</a:t>
            </a:r>
            <a:endParaRPr sz="2400">
              <a:solidFill>
                <a:srgbClr val="004D40"/>
              </a:solidFill>
            </a:endParaRPr>
          </a:p>
        </p:txBody>
      </p:sp>
      <p:sp>
        <p:nvSpPr>
          <p:cNvPr id="80" name="Google Shape;80;p14"/>
          <p:cNvSpPr txBox="1"/>
          <p:nvPr>
            <p:ph type="title" idx="4294967295"/>
          </p:nvPr>
        </p:nvSpPr>
        <p:spPr>
          <a:xfrm>
            <a:off x="393750" y="1363300"/>
            <a:ext cx="8356500" cy="34905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2"/>
              </a:buClr>
              <a:buSzPts val="1100"/>
              <a:buFont typeface="Arial" panose="020B0604020202020204"/>
              <a:buNone/>
            </a:pPr>
            <a:r>
              <a:rPr lang="en-GB" sz="1800" b="0">
                <a:latin typeface="Lato" panose="020F0502020204030203"/>
                <a:ea typeface="Lato" panose="020F0502020204030203"/>
                <a:cs typeface="Lato" panose="020F0502020204030203"/>
                <a:sym typeface="Lato" panose="020F0502020204030203"/>
              </a:rPr>
              <a:t>This project presents a data-driven analysis of the current job market, covering regional hiring trends, industry demand, and the impact of skills and education on career growth. Using structured analytics, the study identifies where job opportunities are expanding, which sectors offer the highest demand, and how salary patterns vary across different regions. The analysis further uncovers the role of qualifications and technical skills in influencing employability and earning potential. By integrating state-wise, industry-wise, and skill-based insights, the project highlights key patterns shaping today’s workforce landscape.The objective is to support students, job seekers, and decision-makers in understanding market needs and aligning their career strategies effectively.</a:t>
            </a:r>
            <a:endParaRPr sz="1800" b="0">
              <a:latin typeface="Lato" panose="020F0502020204030203"/>
              <a:ea typeface="Lato" panose="020F0502020204030203"/>
              <a:cs typeface="Lato" panose="020F0502020204030203"/>
              <a:sym typeface="Lato" panose="020F0502020204030203"/>
            </a:endParaRPr>
          </a:p>
          <a:p>
            <a:pPr marL="0" lvl="0" indent="0" algn="l" rtl="0">
              <a:lnSpc>
                <a:spcPct val="115000"/>
              </a:lnSpc>
              <a:spcBef>
                <a:spcPts val="1200"/>
              </a:spcBef>
              <a:spcAft>
                <a:spcPts val="0"/>
              </a:spcAft>
              <a:buClr>
                <a:schemeClr val="dk2"/>
              </a:buClr>
              <a:buSzPts val="1100"/>
              <a:buFont typeface="Arial" panose="020B0604020202020204"/>
              <a:buNone/>
            </a:pPr>
            <a:endParaRPr sz="1800" b="0">
              <a:latin typeface="Lato" panose="020F0502020204030203"/>
              <a:ea typeface="Lato" panose="020F0502020204030203"/>
              <a:cs typeface="Lato" panose="020F0502020204030203"/>
              <a:sym typeface="Lato" panose="020F0502020204030203"/>
            </a:endParaRPr>
          </a:p>
          <a:p>
            <a:pPr marL="0" lvl="0" indent="0" algn="l" rtl="0">
              <a:lnSpc>
                <a:spcPct val="115000"/>
              </a:lnSpc>
              <a:spcBef>
                <a:spcPts val="1200"/>
              </a:spcBef>
              <a:spcAft>
                <a:spcPts val="1200"/>
              </a:spcAft>
              <a:buClr>
                <a:schemeClr val="dk2"/>
              </a:buClr>
              <a:buSzPts val="1100"/>
              <a:buFont typeface="Arial" panose="020B0604020202020204"/>
              <a:buNone/>
            </a:pPr>
            <a:endParaRPr sz="1800" b="0">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4D40"/>
        </a:solidFill>
        <a:effectLst/>
      </p:bgPr>
    </p:bg>
    <p:spTree>
      <p:nvGrpSpPr>
        <p:cNvPr id="84" name="Shape 84"/>
        <p:cNvGrpSpPr/>
        <p:nvPr/>
      </p:nvGrpSpPr>
      <p:grpSpPr>
        <a:xfrm>
          <a:off x="0" y="0"/>
          <a:ext cx="0" cy="0"/>
          <a:chOff x="0" y="0"/>
          <a:chExt cx="0" cy="0"/>
        </a:xfrm>
      </p:grpSpPr>
      <p:sp>
        <p:nvSpPr>
          <p:cNvPr id="85" name="Google Shape;85;p15"/>
          <p:cNvSpPr txBox="1"/>
          <p:nvPr/>
        </p:nvSpPr>
        <p:spPr>
          <a:xfrm>
            <a:off x="631575" y="2888900"/>
            <a:ext cx="8151300" cy="180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panose="020B0604020202020204"/>
              <a:buNone/>
            </a:pPr>
            <a:endParaRPr>
              <a:solidFill>
                <a:schemeClr val="lt1"/>
              </a:solidFill>
              <a:latin typeface="Lexend Medium"/>
              <a:ea typeface="Lexend Medium"/>
              <a:cs typeface="Lexend Medium"/>
              <a:sym typeface="Lexend Medium"/>
            </a:endParaRPr>
          </a:p>
          <a:p>
            <a:pPr marL="457200" lvl="0" indent="-311150" algn="l" rtl="0">
              <a:spcBef>
                <a:spcPts val="0"/>
              </a:spcBef>
              <a:spcAft>
                <a:spcPts val="0"/>
              </a:spcAft>
              <a:buClr>
                <a:schemeClr val="lt1"/>
              </a:buClr>
              <a:buSzPts val="1300"/>
              <a:buFont typeface="Lexend Medium"/>
              <a:buChar char="●"/>
            </a:pPr>
            <a:r>
              <a:rPr lang="en-GB" sz="1300">
                <a:solidFill>
                  <a:schemeClr val="lt1"/>
                </a:solidFill>
                <a:latin typeface="Lexend Medium"/>
                <a:ea typeface="Lexend Medium"/>
                <a:cs typeface="Lexend Medium"/>
                <a:sym typeface="Lexend Medium"/>
              </a:rPr>
              <a:t>Junior roles dominate the market with 44.07%, indicating strong demand for early-career professionals.</a:t>
            </a:r>
            <a:endParaRPr sz="1300">
              <a:solidFill>
                <a:schemeClr val="lt1"/>
              </a:solidFill>
              <a:latin typeface="Lexend Medium"/>
              <a:ea typeface="Lexend Medium"/>
              <a:cs typeface="Lexend Medium"/>
              <a:sym typeface="Lexend Medium"/>
            </a:endParaRPr>
          </a:p>
          <a:p>
            <a:pPr marL="457200" lvl="0" indent="-311150" algn="l" rtl="0">
              <a:spcBef>
                <a:spcPts val="0"/>
              </a:spcBef>
              <a:spcAft>
                <a:spcPts val="0"/>
              </a:spcAft>
              <a:buClr>
                <a:schemeClr val="lt1"/>
              </a:buClr>
              <a:buSzPts val="1300"/>
              <a:buFont typeface="Lexend Medium"/>
              <a:buChar char="●"/>
            </a:pPr>
            <a:r>
              <a:rPr lang="en-GB" sz="1300">
                <a:solidFill>
                  <a:schemeClr val="lt1"/>
                </a:solidFill>
                <a:latin typeface="Lexend Medium"/>
                <a:ea typeface="Lexend Medium"/>
                <a:cs typeface="Lexend Medium"/>
                <a:sym typeface="Lexend Medium"/>
              </a:rPr>
              <a:t>Senior positions hold 32.48%, showing consistent hiring for experienced candidates.</a:t>
            </a:r>
            <a:endParaRPr sz="1300">
              <a:solidFill>
                <a:schemeClr val="lt1"/>
              </a:solidFill>
              <a:latin typeface="Lexend Medium"/>
              <a:ea typeface="Lexend Medium"/>
              <a:cs typeface="Lexend Medium"/>
              <a:sym typeface="Lexend Medium"/>
            </a:endParaRPr>
          </a:p>
          <a:p>
            <a:pPr marL="457200" lvl="0" indent="-311150" algn="l" rtl="0">
              <a:spcBef>
                <a:spcPts val="0"/>
              </a:spcBef>
              <a:spcAft>
                <a:spcPts val="0"/>
              </a:spcAft>
              <a:buClr>
                <a:schemeClr val="lt1"/>
              </a:buClr>
              <a:buSzPts val="1300"/>
              <a:buFont typeface="Lexend Medium"/>
              <a:buChar char="●"/>
            </a:pPr>
            <a:r>
              <a:rPr lang="en-GB" sz="1300">
                <a:solidFill>
                  <a:schemeClr val="lt1"/>
                </a:solidFill>
                <a:latin typeface="Lexend Medium"/>
                <a:ea typeface="Lexend Medium"/>
                <a:cs typeface="Lexend Medium"/>
                <a:sym typeface="Lexend Medium"/>
              </a:rPr>
              <a:t>Trainee roles form 23.45%, reflecting good entry-level opportunities but lower demand compared to junior roles.</a:t>
            </a:r>
            <a:endParaRPr sz="1300">
              <a:solidFill>
                <a:schemeClr val="lt1"/>
              </a:solidFill>
              <a:latin typeface="Lexend Medium"/>
              <a:ea typeface="Lexend Medium"/>
              <a:cs typeface="Lexend Medium"/>
              <a:sym typeface="Lexend Medium"/>
            </a:endParaRPr>
          </a:p>
          <a:p>
            <a:pPr marL="0" lvl="0" indent="0" algn="l" rtl="0">
              <a:spcBef>
                <a:spcPts val="0"/>
              </a:spcBef>
              <a:spcAft>
                <a:spcPts val="0"/>
              </a:spcAft>
              <a:buNone/>
            </a:pPr>
            <a:endParaRPr sz="1300">
              <a:solidFill>
                <a:schemeClr val="lt1"/>
              </a:solidFill>
              <a:latin typeface="Lexend Medium"/>
              <a:ea typeface="Lexend Medium"/>
              <a:cs typeface="Lexend Medium"/>
              <a:sym typeface="Lexend Medium"/>
            </a:endParaRPr>
          </a:p>
        </p:txBody>
      </p:sp>
      <p:pic>
        <p:nvPicPr>
          <p:cNvPr id="86" name="Google Shape;86;p15"/>
          <p:cNvPicPr preferRelativeResize="0"/>
          <p:nvPr/>
        </p:nvPicPr>
        <p:blipFill>
          <a:blip r:embed="rId1"/>
          <a:stretch>
            <a:fillRect/>
          </a:stretch>
        </p:blipFill>
        <p:spPr>
          <a:xfrm>
            <a:off x="1458350" y="370250"/>
            <a:ext cx="6227299" cy="2518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C400"/>
        </a:solidFill>
        <a:effectLst/>
      </p:bgPr>
    </p:bg>
    <p:spTree>
      <p:nvGrpSpPr>
        <p:cNvPr id="90" name="Shape 90"/>
        <p:cNvGrpSpPr/>
        <p:nvPr/>
      </p:nvGrpSpPr>
      <p:grpSpPr>
        <a:xfrm>
          <a:off x="0" y="0"/>
          <a:ext cx="0" cy="0"/>
          <a:chOff x="0" y="0"/>
          <a:chExt cx="0" cy="0"/>
        </a:xfrm>
      </p:grpSpPr>
      <p:sp>
        <p:nvSpPr>
          <p:cNvPr id="91" name="Google Shape;91;p16"/>
          <p:cNvSpPr txBox="1"/>
          <p:nvPr/>
        </p:nvSpPr>
        <p:spPr>
          <a:xfrm>
            <a:off x="6286075" y="588050"/>
            <a:ext cx="2619600" cy="4138800"/>
          </a:xfrm>
          <a:prstGeom prst="rect">
            <a:avLst/>
          </a:prstGeom>
          <a:solidFill>
            <a:srgbClr val="F4C400"/>
          </a:solidFill>
          <a:ln>
            <a:noFill/>
          </a:ln>
        </p:spPr>
        <p:txBody>
          <a:bodyPr spcFirstLastPara="1" wrap="square" lIns="91425" tIns="91425" rIns="91425" bIns="91425" anchor="t" anchorCtr="0">
            <a:noAutofit/>
          </a:bodyPr>
          <a:lstStyle/>
          <a:p>
            <a:pPr marL="457200" lvl="0" indent="-311150" algn="l" rtl="0">
              <a:spcBef>
                <a:spcPts val="0"/>
              </a:spcBef>
              <a:spcAft>
                <a:spcPts val="0"/>
              </a:spcAft>
              <a:buClr>
                <a:schemeClr val="lt1"/>
              </a:buClr>
              <a:buSzPts val="1300"/>
              <a:buFont typeface="Lexend Medium"/>
              <a:buChar char="●"/>
            </a:pPr>
            <a:r>
              <a:rPr lang="en-GB" sz="1300">
                <a:solidFill>
                  <a:schemeClr val="lt1"/>
                </a:solidFill>
                <a:latin typeface="Lexend Medium"/>
                <a:ea typeface="Lexend Medium"/>
                <a:cs typeface="Lexend Medium"/>
                <a:sym typeface="Lexend Medium"/>
              </a:rPr>
              <a:t>Data Scientist is the most in-demand role with 323 openings, showing highest market demand.</a:t>
            </a:r>
            <a:endParaRPr sz="1300">
              <a:solidFill>
                <a:schemeClr val="lt1"/>
              </a:solidFill>
              <a:latin typeface="Lexend Medium"/>
              <a:ea typeface="Lexend Medium"/>
              <a:cs typeface="Lexend Medium"/>
              <a:sym typeface="Lexend Medium"/>
            </a:endParaRPr>
          </a:p>
          <a:p>
            <a:pPr marL="0" lvl="0" indent="0" algn="l" rtl="0">
              <a:spcBef>
                <a:spcPts val="0"/>
              </a:spcBef>
              <a:spcAft>
                <a:spcPts val="0"/>
              </a:spcAft>
              <a:buNone/>
            </a:pPr>
            <a:endParaRPr sz="1300">
              <a:solidFill>
                <a:schemeClr val="lt1"/>
              </a:solidFill>
              <a:latin typeface="Lexend Medium"/>
              <a:ea typeface="Lexend Medium"/>
              <a:cs typeface="Lexend Medium"/>
              <a:sym typeface="Lexend Medium"/>
            </a:endParaRPr>
          </a:p>
          <a:p>
            <a:pPr marL="457200" lvl="0" indent="-311150" algn="l" rtl="0">
              <a:spcBef>
                <a:spcPts val="0"/>
              </a:spcBef>
              <a:spcAft>
                <a:spcPts val="0"/>
              </a:spcAft>
              <a:buClr>
                <a:schemeClr val="lt1"/>
              </a:buClr>
              <a:buSzPts val="1300"/>
              <a:buFont typeface="Lexend Medium"/>
              <a:buChar char="●"/>
            </a:pPr>
            <a:r>
              <a:rPr lang="en-GB" sz="1300">
                <a:solidFill>
                  <a:schemeClr val="lt1"/>
                </a:solidFill>
                <a:latin typeface="Lexend Medium"/>
                <a:ea typeface="Lexend Medium"/>
                <a:cs typeface="Lexend Medium"/>
                <a:sym typeface="Lexend Medium"/>
              </a:rPr>
              <a:t>Other Scientist (143), Data Engineer (119), and Analyst roles (101) form the strong mid-tier demand cluster.</a:t>
            </a:r>
            <a:endParaRPr sz="1300">
              <a:solidFill>
                <a:schemeClr val="lt1"/>
              </a:solidFill>
              <a:latin typeface="Lexend Medium"/>
              <a:ea typeface="Lexend Medium"/>
              <a:cs typeface="Lexend Medium"/>
              <a:sym typeface="Lexend Medium"/>
            </a:endParaRPr>
          </a:p>
          <a:p>
            <a:pPr marL="457200" lvl="0" indent="0" algn="l" rtl="0">
              <a:spcBef>
                <a:spcPts val="0"/>
              </a:spcBef>
              <a:spcAft>
                <a:spcPts val="0"/>
              </a:spcAft>
              <a:buNone/>
            </a:pPr>
            <a:endParaRPr sz="1300">
              <a:solidFill>
                <a:schemeClr val="lt1"/>
              </a:solidFill>
              <a:latin typeface="Lexend Medium"/>
              <a:ea typeface="Lexend Medium"/>
              <a:cs typeface="Lexend Medium"/>
              <a:sym typeface="Lexend Medium"/>
            </a:endParaRPr>
          </a:p>
          <a:p>
            <a:pPr marL="457200" lvl="0" indent="-311150" algn="l" rtl="0">
              <a:spcBef>
                <a:spcPts val="0"/>
              </a:spcBef>
              <a:spcAft>
                <a:spcPts val="0"/>
              </a:spcAft>
              <a:buClr>
                <a:schemeClr val="lt1"/>
              </a:buClr>
              <a:buSzPts val="1300"/>
              <a:buFont typeface="Lexend Medium"/>
              <a:buChar char="●"/>
            </a:pPr>
            <a:r>
              <a:rPr lang="en-GB" sz="1300">
                <a:solidFill>
                  <a:schemeClr val="lt1"/>
                </a:solidFill>
                <a:latin typeface="Lexend Medium"/>
                <a:ea typeface="Lexend Medium"/>
                <a:cs typeface="Lexend Medium"/>
                <a:sym typeface="Lexend Medium"/>
              </a:rPr>
              <a:t>Specialized roles like Machine Learning Engineer (22), Data Scientist Project roles (16), Data Analytics (8), and Data Modeler (5) have lower but niche demand.</a:t>
            </a:r>
            <a:endParaRPr sz="1300">
              <a:solidFill>
                <a:schemeClr val="lt1"/>
              </a:solidFill>
              <a:latin typeface="Lexend Medium"/>
              <a:ea typeface="Lexend Medium"/>
              <a:cs typeface="Lexend Medium"/>
              <a:sym typeface="Lexend Medium"/>
            </a:endParaRPr>
          </a:p>
          <a:p>
            <a:pPr marL="457200" lvl="0" indent="0" algn="l" rtl="0">
              <a:spcBef>
                <a:spcPts val="0"/>
              </a:spcBef>
              <a:spcAft>
                <a:spcPts val="0"/>
              </a:spcAft>
              <a:buNone/>
            </a:pPr>
            <a:endParaRPr sz="1300">
              <a:solidFill>
                <a:schemeClr val="lt1"/>
              </a:solidFill>
              <a:latin typeface="Lexend Medium"/>
              <a:ea typeface="Lexend Medium"/>
              <a:cs typeface="Lexend Medium"/>
              <a:sym typeface="Lexend Medium"/>
            </a:endParaRPr>
          </a:p>
        </p:txBody>
      </p:sp>
      <p:pic>
        <p:nvPicPr>
          <p:cNvPr id="92" name="Google Shape;92;p16"/>
          <p:cNvPicPr preferRelativeResize="0"/>
          <p:nvPr/>
        </p:nvPicPr>
        <p:blipFill>
          <a:blip r:embed="rId1"/>
          <a:stretch>
            <a:fillRect/>
          </a:stretch>
        </p:blipFill>
        <p:spPr>
          <a:xfrm>
            <a:off x="304800" y="907850"/>
            <a:ext cx="5981275" cy="332779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6" name="Shape 96"/>
        <p:cNvGrpSpPr/>
        <p:nvPr/>
      </p:nvGrpSpPr>
      <p:grpSpPr>
        <a:xfrm>
          <a:off x="0" y="0"/>
          <a:ext cx="0" cy="0"/>
          <a:chOff x="0" y="0"/>
          <a:chExt cx="0" cy="0"/>
        </a:xfrm>
      </p:grpSpPr>
      <p:sp>
        <p:nvSpPr>
          <p:cNvPr id="97" name="Google Shape;97;p17"/>
          <p:cNvSpPr txBox="1"/>
          <p:nvPr>
            <p:ph type="body" idx="4294967295"/>
          </p:nvPr>
        </p:nvSpPr>
        <p:spPr>
          <a:xfrm>
            <a:off x="386525" y="228000"/>
            <a:ext cx="2499600" cy="4485000"/>
          </a:xfrm>
          <a:prstGeom prst="rect">
            <a:avLst/>
          </a:prstGeom>
          <a:solidFill>
            <a:schemeClr val="lt1"/>
          </a:solidFill>
        </p:spPr>
        <p:txBody>
          <a:bodyPr spcFirstLastPara="1" wrap="square" lIns="91425" tIns="91425" rIns="91425" bIns="91425" anchor="t" anchorCtr="0">
            <a:noAutofit/>
          </a:bodyPr>
          <a:lstStyle/>
          <a:p>
            <a:pPr marL="457200" lvl="0" indent="-304800" algn="l" rtl="0">
              <a:spcBef>
                <a:spcPts val="1200"/>
              </a:spcBef>
              <a:spcAft>
                <a:spcPts val="0"/>
              </a:spcAft>
              <a:buSzPts val="1200"/>
              <a:buFont typeface="Lexend"/>
              <a:buChar char="●"/>
            </a:pPr>
            <a:r>
              <a:rPr lang="en-GB" sz="1200">
                <a:latin typeface="Lexend"/>
                <a:ea typeface="Lexend"/>
                <a:cs typeface="Lexend"/>
                <a:sym typeface="Lexend"/>
              </a:rPr>
              <a:t>Candidates with a Master’s degree earn the highest share of total average salary, accounting for 68.92% (830.39K).</a:t>
            </a:r>
            <a:br>
              <a:rPr lang="en-GB" sz="1200">
                <a:latin typeface="Lexend"/>
                <a:ea typeface="Lexend"/>
                <a:cs typeface="Lexend"/>
                <a:sym typeface="Lexend"/>
              </a:rPr>
            </a:br>
            <a:endParaRPr sz="1200">
              <a:latin typeface="Lexend"/>
              <a:ea typeface="Lexend"/>
              <a:cs typeface="Lexend"/>
              <a:sym typeface="Lexend"/>
            </a:endParaRPr>
          </a:p>
          <a:p>
            <a:pPr marL="457200" lvl="0" indent="-304800" algn="l" rtl="0">
              <a:spcBef>
                <a:spcPts val="0"/>
              </a:spcBef>
              <a:spcAft>
                <a:spcPts val="0"/>
              </a:spcAft>
              <a:buSzPts val="1200"/>
              <a:buFont typeface="Lexend"/>
              <a:buChar char="●"/>
            </a:pPr>
            <a:r>
              <a:rPr lang="en-GB" sz="1200">
                <a:latin typeface="Lexend"/>
                <a:ea typeface="Lexend"/>
                <a:cs typeface="Lexend"/>
                <a:sym typeface="Lexend"/>
              </a:rPr>
              <a:t>PhD holders contribute 31.08% (374.43K) to the total average salary, reflecting strong but comparatively lower market representation.</a:t>
            </a:r>
            <a:br>
              <a:rPr lang="en-GB" sz="1200">
                <a:latin typeface="Lexend"/>
                <a:ea typeface="Lexend"/>
                <a:cs typeface="Lexend"/>
                <a:sym typeface="Lexend"/>
              </a:rPr>
            </a:br>
            <a:endParaRPr sz="1200">
              <a:latin typeface="Lexend"/>
              <a:ea typeface="Lexend"/>
              <a:cs typeface="Lexend"/>
              <a:sym typeface="Lexend"/>
            </a:endParaRPr>
          </a:p>
          <a:p>
            <a:pPr marL="457200" lvl="0" indent="-304800" algn="l" rtl="0">
              <a:spcBef>
                <a:spcPts val="0"/>
              </a:spcBef>
              <a:spcAft>
                <a:spcPts val="0"/>
              </a:spcAft>
              <a:buSzPts val="1200"/>
              <a:buFont typeface="Lexend"/>
              <a:buChar char="●"/>
            </a:pPr>
            <a:r>
              <a:rPr lang="en-GB" sz="1200">
                <a:latin typeface="Lexend"/>
                <a:ea typeface="Lexend"/>
                <a:cs typeface="Lexend"/>
                <a:sym typeface="Lexend"/>
              </a:rPr>
              <a:t>Overall, the data shows that Master's degrees command higher average salary influence in the job market compared to PhDs.</a:t>
            </a:r>
            <a:br>
              <a:rPr lang="en-GB" sz="1200">
                <a:latin typeface="Lexend"/>
                <a:ea typeface="Lexend"/>
                <a:cs typeface="Lexend"/>
                <a:sym typeface="Lexend"/>
              </a:rPr>
            </a:br>
            <a:endParaRPr sz="1200">
              <a:latin typeface="Lexend"/>
              <a:ea typeface="Lexend"/>
              <a:cs typeface="Lexend"/>
              <a:sym typeface="Lexend"/>
            </a:endParaRPr>
          </a:p>
          <a:p>
            <a:pPr marL="457200" lvl="0" indent="0" algn="l" rtl="0">
              <a:spcBef>
                <a:spcPts val="1200"/>
              </a:spcBef>
              <a:spcAft>
                <a:spcPts val="1000"/>
              </a:spcAft>
              <a:buNone/>
            </a:pPr>
            <a:endParaRPr sz="1400">
              <a:latin typeface="Lexend Medium"/>
              <a:ea typeface="Lexend Medium"/>
              <a:cs typeface="Lexend Medium"/>
              <a:sym typeface="Lexend Medium"/>
            </a:endParaRPr>
          </a:p>
        </p:txBody>
      </p:sp>
      <p:pic>
        <p:nvPicPr>
          <p:cNvPr id="98" name="Google Shape;98;p17"/>
          <p:cNvPicPr preferRelativeResize="0"/>
          <p:nvPr/>
        </p:nvPicPr>
        <p:blipFill>
          <a:blip r:embed="rId1"/>
          <a:stretch>
            <a:fillRect/>
          </a:stretch>
        </p:blipFill>
        <p:spPr>
          <a:xfrm>
            <a:off x="2886125" y="650875"/>
            <a:ext cx="5913424" cy="384174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4D40"/>
        </a:solidFill>
        <a:effectLst/>
      </p:bgPr>
    </p:bg>
    <p:spTree>
      <p:nvGrpSpPr>
        <p:cNvPr id="102" name="Shape 102"/>
        <p:cNvGrpSpPr/>
        <p:nvPr/>
      </p:nvGrpSpPr>
      <p:grpSpPr>
        <a:xfrm>
          <a:off x="0" y="0"/>
          <a:ext cx="0" cy="0"/>
          <a:chOff x="0" y="0"/>
          <a:chExt cx="0" cy="0"/>
        </a:xfrm>
      </p:grpSpPr>
      <p:sp>
        <p:nvSpPr>
          <p:cNvPr id="103" name="Google Shape;103;p18"/>
          <p:cNvSpPr txBox="1"/>
          <p:nvPr>
            <p:ph type="title"/>
          </p:nvPr>
        </p:nvSpPr>
        <p:spPr>
          <a:xfrm>
            <a:off x="9715074" y="3122075"/>
            <a:ext cx="1851300" cy="16587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endParaRPr sz="2400" b="0"/>
          </a:p>
        </p:txBody>
      </p:sp>
      <p:sp>
        <p:nvSpPr>
          <p:cNvPr id="104" name="Google Shape;104;p18"/>
          <p:cNvSpPr txBox="1"/>
          <p:nvPr/>
        </p:nvSpPr>
        <p:spPr>
          <a:xfrm>
            <a:off x="141300" y="418350"/>
            <a:ext cx="2784300" cy="4306800"/>
          </a:xfrm>
          <a:prstGeom prst="rect">
            <a:avLst/>
          </a:prstGeom>
          <a:solidFill>
            <a:srgbClr val="F4C400"/>
          </a:solidFill>
          <a:ln>
            <a:noFill/>
          </a:ln>
        </p:spPr>
        <p:txBody>
          <a:bodyPr spcFirstLastPara="1" wrap="square" lIns="91425" tIns="91425" rIns="91425" bIns="91425" anchor="t" anchorCtr="0">
            <a:noAutofit/>
          </a:bodyPr>
          <a:lstStyle/>
          <a:p>
            <a:pPr marL="457200" lvl="0" indent="-311150" algn="l" rtl="0">
              <a:spcBef>
                <a:spcPts val="0"/>
              </a:spcBef>
              <a:spcAft>
                <a:spcPts val="0"/>
              </a:spcAft>
              <a:buClr>
                <a:schemeClr val="lt1"/>
              </a:buClr>
              <a:buSzPts val="1300"/>
              <a:buFont typeface="Lexend Medium"/>
              <a:buChar char="●"/>
            </a:pPr>
            <a:r>
              <a:rPr lang="en-GB" sz="1300">
                <a:solidFill>
                  <a:schemeClr val="lt1"/>
                </a:solidFill>
                <a:latin typeface="Lexend Medium"/>
                <a:ea typeface="Lexend Medium"/>
                <a:cs typeface="Lexend Medium"/>
                <a:sym typeface="Lexend Medium"/>
              </a:rPr>
              <a:t>Python, Excel, and SQL are the top three most demanded skills, forming the core requirement for most job roles.</a:t>
            </a:r>
            <a:endParaRPr sz="1300">
              <a:solidFill>
                <a:schemeClr val="lt1"/>
              </a:solidFill>
              <a:latin typeface="Lexend Medium"/>
              <a:ea typeface="Lexend Medium"/>
              <a:cs typeface="Lexend Medium"/>
              <a:sym typeface="Lexend Medium"/>
            </a:endParaRPr>
          </a:p>
          <a:p>
            <a:pPr marL="0" lvl="0" indent="0" algn="l" rtl="0">
              <a:spcBef>
                <a:spcPts val="0"/>
              </a:spcBef>
              <a:spcAft>
                <a:spcPts val="0"/>
              </a:spcAft>
              <a:buNone/>
            </a:pPr>
            <a:endParaRPr sz="1300">
              <a:solidFill>
                <a:schemeClr val="lt1"/>
              </a:solidFill>
              <a:latin typeface="Lexend Medium"/>
              <a:ea typeface="Lexend Medium"/>
              <a:cs typeface="Lexend Medium"/>
              <a:sym typeface="Lexend Medium"/>
            </a:endParaRPr>
          </a:p>
          <a:p>
            <a:pPr marL="457200" lvl="0" indent="-311150" algn="l" rtl="0">
              <a:spcBef>
                <a:spcPts val="0"/>
              </a:spcBef>
              <a:spcAft>
                <a:spcPts val="0"/>
              </a:spcAft>
              <a:buClr>
                <a:schemeClr val="lt1"/>
              </a:buClr>
              <a:buSzPts val="1300"/>
              <a:buFont typeface="Lexend Medium"/>
              <a:buChar char="●"/>
            </a:pPr>
            <a:r>
              <a:rPr lang="en-GB" sz="1300">
                <a:solidFill>
                  <a:schemeClr val="lt1"/>
                </a:solidFill>
                <a:latin typeface="Lexend Medium"/>
                <a:ea typeface="Lexend Medium"/>
                <a:cs typeface="Lexend Medium"/>
                <a:sym typeface="Lexend Medium"/>
              </a:rPr>
              <a:t>Cloud and big-data tools like AWS (176), Spark (167), and Hadoop (124) show strong demand, highlighting the shift toward scalable data systems.</a:t>
            </a:r>
            <a:endParaRPr sz="1300">
              <a:solidFill>
                <a:schemeClr val="lt1"/>
              </a:solidFill>
              <a:latin typeface="Lexend Medium"/>
              <a:ea typeface="Lexend Medium"/>
              <a:cs typeface="Lexend Medium"/>
              <a:sym typeface="Lexend Medium"/>
            </a:endParaRPr>
          </a:p>
          <a:p>
            <a:pPr marL="457200" lvl="0" indent="0" algn="l" rtl="0">
              <a:spcBef>
                <a:spcPts val="0"/>
              </a:spcBef>
              <a:spcAft>
                <a:spcPts val="0"/>
              </a:spcAft>
              <a:buNone/>
            </a:pPr>
            <a:endParaRPr sz="1300">
              <a:solidFill>
                <a:schemeClr val="lt1"/>
              </a:solidFill>
              <a:latin typeface="Lexend Medium"/>
              <a:ea typeface="Lexend Medium"/>
              <a:cs typeface="Lexend Medium"/>
              <a:sym typeface="Lexend Medium"/>
            </a:endParaRPr>
          </a:p>
          <a:p>
            <a:pPr marL="457200" lvl="0" indent="-311150" algn="l" rtl="0">
              <a:spcBef>
                <a:spcPts val="0"/>
              </a:spcBef>
              <a:spcAft>
                <a:spcPts val="0"/>
              </a:spcAft>
              <a:buClr>
                <a:schemeClr val="lt1"/>
              </a:buClr>
              <a:buSzPts val="1300"/>
              <a:buFont typeface="Lexend Medium"/>
              <a:buChar char="●"/>
            </a:pPr>
            <a:r>
              <a:rPr lang="en-GB" sz="1300">
                <a:solidFill>
                  <a:schemeClr val="lt1"/>
                </a:solidFill>
                <a:latin typeface="Lexend Medium"/>
                <a:ea typeface="Lexend Medium"/>
                <a:cs typeface="Lexend Medium"/>
                <a:sym typeface="Lexend Medium"/>
              </a:rPr>
              <a:t>Specialized ML/AI skills such as TensorFlow, SAS, BI tools, Scikit-learn, and PyTorch are required moderately, indicating targeted demand for advanced analytics roles.</a:t>
            </a:r>
            <a:endParaRPr sz="1300">
              <a:solidFill>
                <a:schemeClr val="lt1"/>
              </a:solidFill>
              <a:latin typeface="Lexend Medium"/>
              <a:ea typeface="Lexend Medium"/>
              <a:cs typeface="Lexend Medium"/>
              <a:sym typeface="Lexend Medium"/>
            </a:endParaRPr>
          </a:p>
          <a:p>
            <a:pPr marL="0" lvl="0" indent="0" algn="l" rtl="0">
              <a:spcBef>
                <a:spcPts val="0"/>
              </a:spcBef>
              <a:spcAft>
                <a:spcPts val="0"/>
              </a:spcAft>
              <a:buNone/>
            </a:pPr>
            <a:endParaRPr sz="1300">
              <a:solidFill>
                <a:schemeClr val="lt1"/>
              </a:solidFill>
              <a:latin typeface="Lexend Medium"/>
              <a:ea typeface="Lexend Medium"/>
              <a:cs typeface="Lexend Medium"/>
              <a:sym typeface="Lexend Medium"/>
            </a:endParaRPr>
          </a:p>
        </p:txBody>
      </p:sp>
      <p:pic>
        <p:nvPicPr>
          <p:cNvPr id="105" name="Google Shape;105;p18"/>
          <p:cNvPicPr preferRelativeResize="0"/>
          <p:nvPr/>
        </p:nvPicPr>
        <p:blipFill>
          <a:blip r:embed="rId1"/>
          <a:stretch>
            <a:fillRect/>
          </a:stretch>
        </p:blipFill>
        <p:spPr>
          <a:xfrm>
            <a:off x="3174000" y="899300"/>
            <a:ext cx="5858725" cy="320778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09" name="Shape 109"/>
        <p:cNvGrpSpPr/>
        <p:nvPr/>
      </p:nvGrpSpPr>
      <p:grpSpPr>
        <a:xfrm>
          <a:off x="0" y="0"/>
          <a:ext cx="0" cy="0"/>
          <a:chOff x="0" y="0"/>
          <a:chExt cx="0" cy="0"/>
        </a:xfrm>
      </p:grpSpPr>
      <p:sp>
        <p:nvSpPr>
          <p:cNvPr id="110" name="Google Shape;110;p19"/>
          <p:cNvSpPr txBox="1"/>
          <p:nvPr>
            <p:ph type="title"/>
          </p:nvPr>
        </p:nvSpPr>
        <p:spPr>
          <a:xfrm>
            <a:off x="349799" y="876750"/>
            <a:ext cx="8444400" cy="383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panose="020B0604020202020204"/>
              <a:buNone/>
            </a:pPr>
            <a:r>
              <a:rPr lang="en-GB" sz="1600" b="0">
                <a:solidFill>
                  <a:srgbClr val="004D40"/>
                </a:solidFill>
                <a:latin typeface="Lexend"/>
                <a:ea typeface="Lexend"/>
                <a:cs typeface="Lexend"/>
                <a:sym typeface="Lexend"/>
              </a:rPr>
              <a:t>1. With Data Scientist roles dominating the market, other positions include Data Engineer and Analyst, which also signals highly sought-after analytical and technical expertise.</a:t>
            </a:r>
            <a:endParaRPr sz="1600" b="0">
              <a:solidFill>
                <a:srgbClr val="004D40"/>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sz="1600" b="0">
                <a:solidFill>
                  <a:srgbClr val="004D40"/>
                </a:solidFill>
                <a:latin typeface="Lexend"/>
                <a:ea typeface="Lexend"/>
                <a:cs typeface="Lexend"/>
                <a:sym typeface="Lexend"/>
              </a:rPr>
              <a:t>2. Python, Excel, and SQL are still the most in demand skills, thus necessary to be employable in any industry.</a:t>
            </a:r>
            <a:endParaRPr sz="1600" b="0">
              <a:solidFill>
                <a:srgbClr val="004D40"/>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sz="1600" b="0">
                <a:solidFill>
                  <a:srgbClr val="004D40"/>
                </a:solidFill>
                <a:latin typeface="Lexend"/>
                <a:ea typeface="Lexend"/>
                <a:cs typeface="Lexend"/>
                <a:sym typeface="Lexend"/>
              </a:rPr>
              <a:t>3. Junior-level positions form the largest share, showing that organizations prefer to hire early career talent with strong foundational skills.</a:t>
            </a:r>
            <a:endParaRPr sz="1600" b="0">
              <a:solidFill>
                <a:srgbClr val="004D40"/>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sz="1600" b="0">
                <a:solidFill>
                  <a:srgbClr val="004D40"/>
                </a:solidFill>
                <a:latin typeface="Lexend"/>
                <a:ea typeface="Lexend"/>
                <a:cs typeface="Lexend"/>
                <a:sym typeface="Lexend"/>
              </a:rPr>
              <a:t>4. The average salary for Master's degree holders is higher, indicating a stronger market value for postgraduate education in data-related positions.</a:t>
            </a:r>
            <a:endParaRPr sz="1600" b="0">
              <a:solidFill>
                <a:srgbClr val="004D40"/>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sz="1600" b="0">
                <a:solidFill>
                  <a:srgbClr val="004D40"/>
                </a:solidFill>
                <a:latin typeface="Lexend"/>
                <a:ea typeface="Lexend"/>
                <a:cs typeface="Lexend"/>
                <a:sym typeface="Lexend"/>
              </a:rPr>
              <a:t>5. States like CA, IL, and DC offer the highest salaries, which indicates appealing regions for career growth in technology and analytics.</a:t>
            </a:r>
            <a:endParaRPr sz="1600" b="0">
              <a:solidFill>
                <a:srgbClr val="004D40"/>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sz="1600" b="0">
                <a:solidFill>
                  <a:srgbClr val="004D40"/>
                </a:solidFill>
                <a:latin typeface="Lexend"/>
                <a:ea typeface="Lexend"/>
                <a:cs typeface="Lexend"/>
                <a:sym typeface="Lexend"/>
              </a:rPr>
              <a:t>6. Industries with the largest job volumes include Biotech, Pharma, Insurance, and IT, with strong hiring momentum in innovation driven sectors.</a:t>
            </a:r>
            <a:endParaRPr sz="1600" b="0">
              <a:solidFill>
                <a:srgbClr val="004D40"/>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sz="1600" b="0">
                <a:solidFill>
                  <a:srgbClr val="004D40"/>
                </a:solidFill>
                <a:latin typeface="Lexend"/>
                <a:ea typeface="Lexend"/>
                <a:cs typeface="Lexend"/>
                <a:sym typeface="Lexend"/>
              </a:rPr>
              <a:t>7. Overall, job distribution shows clear patterns of required skill demand, salary variation, and geographical hubs that will help job seekers and businesses effectively align hiring, training, and career planning strategies.</a:t>
            </a:r>
            <a:endParaRPr sz="1600" b="0">
              <a:solidFill>
                <a:srgbClr val="004D40"/>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endParaRPr sz="1600" b="0">
              <a:latin typeface="Lexend"/>
              <a:ea typeface="Lexend"/>
              <a:cs typeface="Lexend"/>
              <a:sym typeface="Lexend"/>
            </a:endParaRPr>
          </a:p>
          <a:p>
            <a:pPr marL="0" lvl="0" indent="0" algn="l" rtl="0">
              <a:spcBef>
                <a:spcPts val="0"/>
              </a:spcBef>
              <a:spcAft>
                <a:spcPts val="0"/>
              </a:spcAft>
              <a:buNone/>
            </a:pPr>
            <a:endParaRPr sz="1600" b="0">
              <a:latin typeface="Lexend"/>
              <a:ea typeface="Lexend"/>
              <a:cs typeface="Lexend"/>
              <a:sym typeface="Lexend"/>
            </a:endParaRPr>
          </a:p>
        </p:txBody>
      </p:sp>
      <p:sp>
        <p:nvSpPr>
          <p:cNvPr id="111" name="Google Shape;111;p19"/>
          <p:cNvSpPr txBox="1"/>
          <p:nvPr/>
        </p:nvSpPr>
        <p:spPr>
          <a:xfrm>
            <a:off x="349800" y="324000"/>
            <a:ext cx="4622400" cy="48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800" b="1">
                <a:solidFill>
                  <a:srgbClr val="004D40"/>
                </a:solidFill>
                <a:latin typeface="Lexend"/>
                <a:ea typeface="Lexend"/>
                <a:cs typeface="Lexend"/>
                <a:sym typeface="Lexend"/>
              </a:rPr>
              <a:t>CONCLUSION</a:t>
            </a:r>
            <a:endParaRPr sz="2800" b="1">
              <a:solidFill>
                <a:srgbClr val="004D40"/>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15" name="Shape 115"/>
        <p:cNvGrpSpPr/>
        <p:nvPr/>
      </p:nvGrpSpPr>
      <p:grpSpPr>
        <a:xfrm>
          <a:off x="0" y="0"/>
          <a:ext cx="0" cy="0"/>
          <a:chOff x="0" y="0"/>
          <a:chExt cx="0" cy="0"/>
        </a:xfrm>
      </p:grpSpPr>
      <p:sp>
        <p:nvSpPr>
          <p:cNvPr id="116" name="Google Shape;116;p20"/>
          <p:cNvSpPr txBox="1"/>
          <p:nvPr/>
        </p:nvSpPr>
        <p:spPr>
          <a:xfrm>
            <a:off x="497925" y="735500"/>
            <a:ext cx="8215800" cy="426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panose="020B0604020202020204"/>
              <a:buNone/>
            </a:pPr>
            <a:r>
              <a:rPr lang="en-GB">
                <a:solidFill>
                  <a:srgbClr val="004D40"/>
                </a:solidFill>
                <a:latin typeface="Lexend"/>
                <a:ea typeface="Lexend"/>
                <a:cs typeface="Lexend"/>
                <a:sym typeface="Lexend"/>
              </a:rPr>
              <a:t>1. Data Scientist, Data Engineer, and Analyst are leading the job market with a high demand for data-oriented talent. This further points out the continued industry movement toward analytics-driven decision-making.</a:t>
            </a:r>
            <a:endParaRPr>
              <a:solidFill>
                <a:srgbClr val="004D40"/>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endParaRPr>
              <a:solidFill>
                <a:srgbClr val="004D40"/>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a:solidFill>
                  <a:srgbClr val="004D40"/>
                </a:solidFill>
                <a:latin typeface="Lexend"/>
                <a:ea typeface="Lexend"/>
                <a:cs typeface="Lexend"/>
                <a:sym typeface="Lexend"/>
              </a:rPr>
              <a:t>2. Python, Excel, and SQL are the most critical skills, these three form the foundation of most high-demand roles. The investment in these core skills greatly enhances job readiness and competitiveness.</a:t>
            </a:r>
            <a:endParaRPr>
              <a:solidFill>
                <a:srgbClr val="004D40"/>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endParaRPr>
              <a:solidFill>
                <a:srgbClr val="004D40"/>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a:solidFill>
                  <a:srgbClr val="004D40"/>
                </a:solidFill>
                <a:latin typeface="Lexend"/>
                <a:ea typeface="Lexend"/>
                <a:cs typeface="Lexend"/>
                <a:sym typeface="Lexend"/>
              </a:rPr>
              <a:t>3. Junior-level positions dominate the hiring landscape, meaning firms prefer entry level talent that is scalable. This trend is indicative of strong opportunities for freshers and early career professionals.</a:t>
            </a:r>
            <a:endParaRPr>
              <a:solidFill>
                <a:srgbClr val="004D40"/>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endParaRPr>
              <a:solidFill>
                <a:srgbClr val="004D40"/>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a:solidFill>
                  <a:srgbClr val="004D40"/>
                </a:solidFill>
                <a:latin typeface="Lexend"/>
                <a:ea typeface="Lexend"/>
                <a:cs typeface="Lexend"/>
                <a:sym typeface="Lexend"/>
              </a:rPr>
              <a:t>4. Master's degree holders have higher average salaries than PhDs, which is indicative of strong ROI from professional degrees. Education still plays a key role in compensation and career advancement. </a:t>
            </a:r>
            <a:endParaRPr>
              <a:solidFill>
                <a:srgbClr val="004D40"/>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endParaRPr>
              <a:solidFill>
                <a:srgbClr val="004D40"/>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r>
              <a:rPr lang="en-GB">
                <a:solidFill>
                  <a:srgbClr val="004D40"/>
                </a:solidFill>
                <a:latin typeface="Lexend"/>
                <a:ea typeface="Lexend"/>
                <a:cs typeface="Lexend"/>
                <a:sym typeface="Lexend"/>
              </a:rPr>
              <a:t>5. High-paying states like CA, IL, and DC and growth-heavy industries like Biotech, Pharma, and IT are the drivers of the job market. The clusters showcase the areas where job seekers can target to get better salaries and long-term growth.</a:t>
            </a:r>
            <a:endParaRPr>
              <a:solidFill>
                <a:srgbClr val="004D40"/>
              </a:solidFill>
              <a:latin typeface="Lexend"/>
              <a:ea typeface="Lexend"/>
              <a:cs typeface="Lexend"/>
              <a:sym typeface="Lexend"/>
            </a:endParaRPr>
          </a:p>
          <a:p>
            <a:pPr marL="0" lvl="0" indent="0" algn="l" rtl="0">
              <a:spcBef>
                <a:spcPts val="0"/>
              </a:spcBef>
              <a:spcAft>
                <a:spcPts val="0"/>
              </a:spcAft>
              <a:buClr>
                <a:schemeClr val="dk2"/>
              </a:buClr>
              <a:buSzPts val="1100"/>
              <a:buFont typeface="Arial" panose="020B0604020202020204"/>
              <a:buNone/>
            </a:pPr>
            <a:endParaRPr>
              <a:solidFill>
                <a:schemeClr val="dk2"/>
              </a:solidFill>
              <a:latin typeface="Lexend"/>
              <a:ea typeface="Lexend"/>
              <a:cs typeface="Lexend"/>
              <a:sym typeface="Lexend"/>
            </a:endParaRPr>
          </a:p>
        </p:txBody>
      </p:sp>
      <p:sp>
        <p:nvSpPr>
          <p:cNvPr id="117" name="Google Shape;117;p20"/>
          <p:cNvSpPr txBox="1"/>
          <p:nvPr/>
        </p:nvSpPr>
        <p:spPr>
          <a:xfrm>
            <a:off x="539075" y="200575"/>
            <a:ext cx="6542400" cy="53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b="1">
                <a:solidFill>
                  <a:srgbClr val="004D40"/>
                </a:solidFill>
                <a:latin typeface="Lexend"/>
                <a:ea typeface="Lexend"/>
                <a:cs typeface="Lexend"/>
                <a:sym typeface="Lexend"/>
              </a:rPr>
              <a:t>SUGGESTIONS</a:t>
            </a:r>
            <a:endParaRPr sz="2400" b="1">
              <a:solidFill>
                <a:srgbClr val="004D40"/>
              </a:solidFill>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4D40"/>
        </a:solidFill>
        <a:effectLst/>
      </p:bgPr>
    </p:bg>
    <p:spTree>
      <p:nvGrpSpPr>
        <p:cNvPr id="121" name="Shape 121"/>
        <p:cNvGrpSpPr/>
        <p:nvPr/>
      </p:nvGrpSpPr>
      <p:grpSpPr>
        <a:xfrm>
          <a:off x="0" y="0"/>
          <a:ext cx="0" cy="0"/>
          <a:chOff x="0" y="0"/>
          <a:chExt cx="0" cy="0"/>
        </a:xfrm>
      </p:grpSpPr>
      <p:sp>
        <p:nvSpPr>
          <p:cNvPr id="122" name="Google Shape;122;p21"/>
          <p:cNvSpPr txBox="1"/>
          <p:nvPr/>
        </p:nvSpPr>
        <p:spPr>
          <a:xfrm>
            <a:off x="2308350" y="1885100"/>
            <a:ext cx="4527300" cy="101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4800" b="1">
                <a:solidFill>
                  <a:schemeClr val="lt1"/>
                </a:solidFill>
                <a:latin typeface="Lexend"/>
                <a:ea typeface="Lexend"/>
                <a:cs typeface="Lexend"/>
                <a:sym typeface="Lexend"/>
              </a:rPr>
              <a:t>THANK YOU!</a:t>
            </a:r>
            <a:endParaRPr sz="4800" b="1">
              <a:solidFill>
                <a:schemeClr val="lt1"/>
              </a:solidFill>
              <a:latin typeface="Lexend"/>
              <a:ea typeface="Lexend"/>
              <a:cs typeface="Lexend"/>
              <a:sym typeface="Lexend"/>
            </a:endParaRPr>
          </a:p>
        </p:txBody>
      </p:sp>
      <p:sp>
        <p:nvSpPr>
          <p:cNvPr id="123" name="Google Shape;123;p21"/>
          <p:cNvSpPr txBox="1"/>
          <p:nvPr/>
        </p:nvSpPr>
        <p:spPr>
          <a:xfrm>
            <a:off x="4996805" y="2063400"/>
            <a:ext cx="2702400" cy="101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4800" b="1">
              <a:solidFill>
                <a:schemeClr val="lt1"/>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4546</Words>
  <Application>WPS Presentation</Application>
  <PresentationFormat/>
  <Paragraphs>65</Paragraphs>
  <Slides>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9</vt:i4>
      </vt:variant>
    </vt:vector>
  </HeadingPairs>
  <TitlesOfParts>
    <vt:vector size="21" baseType="lpstr">
      <vt:lpstr>Arial</vt:lpstr>
      <vt:lpstr>SimSun</vt:lpstr>
      <vt:lpstr>Wingdings</vt:lpstr>
      <vt:lpstr>Arial</vt:lpstr>
      <vt:lpstr>Raleway</vt:lpstr>
      <vt:lpstr>Lato</vt:lpstr>
      <vt:lpstr>Raleway SemiBold</vt:lpstr>
      <vt:lpstr>Lexend Medium</vt:lpstr>
      <vt:lpstr>Lexend</vt:lpstr>
      <vt:lpstr>Microsoft YaHei</vt:lpstr>
      <vt:lpstr>Arial Unicode MS</vt:lpstr>
      <vt:lpstr>Swiss</vt:lpstr>
      <vt:lpstr>CUSTOMER DATA ANALYSIS</vt:lpstr>
      <vt:lpstr>This project presents a data-driven analysis of the current job market, covering regional hiring trends, industry demand, and the impact of skills and education on career growth. Using structured analytics, the study identifies where job opportunities are expanding, which sectors offer the highest demand, and how salary patterns vary across different regions. The analysis further uncovers the role of qualifications and technical skills in influencing employability and earning potential. By integrating state-wise, industry-wise, and skill-based insights, the project highlights key patterns shaping today’s workforce landscape.The objective is to support students, job seekers, and decision-makers in understanding market needs and aligning their career strategies effectively.</vt:lpstr>
      <vt:lpstr>PowerPoint 演示文稿</vt:lpstr>
      <vt:lpstr>PowerPoint 演示文稿</vt:lpstr>
      <vt:lpstr>PowerPoint 演示文稿</vt:lpstr>
      <vt:lpstr>PowerPoint 演示文稿</vt:lpstr>
      <vt:lpstr>7. Overall, job distribution shows clear patterns of required skill demand, salary variation, and geographical hubs that will help job seekers and businesses effectively align hiring, training, and career planning strategies.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PROJECT-02CUSTOMER DATA ANALYSIS</dc:title>
  <dc:creator/>
  <cp:lastModifiedBy>Aditya Intelliworkz</cp:lastModifiedBy>
  <cp:revision>3</cp:revision>
  <dcterms:created xsi:type="dcterms:W3CDTF">2025-11-19T15:03:00Z</dcterms:created>
  <dcterms:modified xsi:type="dcterms:W3CDTF">2025-11-21T03:32:19Z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95229E6806E2411AAB684D4A10610316_12</vt:lpwstr>
  </property>
  <property fmtid="{D5CDD505-2E9C-101B-9397-08002B2CF9AE}" pid="3" name="KSOProductBuildVer">
    <vt:lpwstr>2057-12.2.0.23149</vt:lpwstr>
  </property>
</Properties>
</file>